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0D1B32"/>
          </a:solidFill>
          <a:ln w="12700">
            <a:solidFill>
              <a:srgbClr val="0D1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7315" cy="685800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0"/>
            <a:ext cx="7315" cy="685800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0"/>
            <a:ext cx="7315" cy="685800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7315" cy="6858000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859536"/>
            <a:ext cx="5605272" cy="7315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719072"/>
            <a:ext cx="5605272" cy="7315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578608"/>
            <a:ext cx="5605272" cy="7315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3438144"/>
            <a:ext cx="5605272" cy="7315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4297680"/>
            <a:ext cx="5605272" cy="7315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5157216"/>
            <a:ext cx="5605272" cy="7315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6016752"/>
            <a:ext cx="5605272" cy="7315"/>
          </a:xfrm>
          <a:prstGeom prst="rect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371600"/>
            <a:ext cx="64008" cy="2560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31920"/>
            <a:ext cx="64008" cy="1097280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44752"/>
            <a:ext cx="2029968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" y="144475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INP-HB · CÔTE D'IVOIRE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7240" y="1828800"/>
            <a:ext cx="5486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0" b="1" spc="-20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CPEC-U</a:t>
            </a:r>
            <a:endParaRPr lang="en-US" sz="8200" dirty="0"/>
          </a:p>
        </p:txBody>
      </p:sp>
      <p:sp>
        <p:nvSpPr>
          <p:cNvPr id="21" name="Text 19"/>
          <p:cNvSpPr/>
          <p:nvPr/>
        </p:nvSpPr>
        <p:spPr>
          <a:xfrm>
            <a:off x="777240" y="31272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50" kern="0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Plateforme de Gestion Académique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3794760"/>
            <a:ext cx="4114800" cy="22860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3192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 SaaS multi-tenant dédiée à l'INP-HB,</a:t>
            </a:r>
            <a:endParaRPr lang="en-US" sz="13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couvrant la scolarité, les notes, les absences</a:t>
            </a:r>
            <a:endParaRPr lang="en-US" sz="13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 la vie étudiante — de bout en bout.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858000" y="914400"/>
            <a:ext cx="5029200" cy="1143000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914400"/>
            <a:ext cx="50292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0972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Multi-tenant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144475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instance, N établissements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2240280"/>
            <a:ext cx="5029200" cy="1143000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2240280"/>
            <a:ext cx="50292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4231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Temps réel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27706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Données synchronisées instantanément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566160"/>
            <a:ext cx="5029200" cy="1143000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3566160"/>
            <a:ext cx="50292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374904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Sécurisé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40965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 multi-rôle, sessions protégées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0" y="4892040"/>
            <a:ext cx="5029200" cy="1143000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4892040"/>
            <a:ext cx="50292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507492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Moderne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40880" y="542239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· Express · PostgreSQL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M15 EduTech  —  Mai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02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37960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CPEC-U · M15 EduTech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4445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/ 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941832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" y="502920"/>
            <a:ext cx="941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défi de la gestion académique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2560320" cy="228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830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établissements académiques africains font face à des défis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d'organisation que les outils traditionnels ne résolvent plus.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3520440" cy="352044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6974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Gestion fragmentée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" y="3675888"/>
            <a:ext cx="731520" cy="228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94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Emplois du temps sur papier, notes dans des tableurs disparates, aucune vision consolidée pour la direction.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2606040"/>
            <a:ext cx="3520440" cy="352044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26974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1772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Suivi étudiant lacunaire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617720" y="3675888"/>
            <a:ext cx="731520" cy="228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794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Absences non centralisées, paiements de frais non tracés, bulletins générés manuellement avec risques d'erreur.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0" y="2606040"/>
            <a:ext cx="3520440" cy="352044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58200" y="26974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45820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Communication silotée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458200" y="3675888"/>
            <a:ext cx="731520" cy="228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37947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Enseignants, étudiants et administration sans canal commun. L'information circule lentement et se perd.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37960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CPEC-U · M15 EduTech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4445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/ 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50292"/>
            <a:ext cx="5303520" cy="6757416"/>
          </a:xfrm>
          <a:prstGeom prst="rect">
            <a:avLst/>
          </a:prstGeom>
          <a:solidFill>
            <a:srgbClr val="0D1B32"/>
          </a:solidFill>
          <a:ln w="12700">
            <a:solidFill>
              <a:srgbClr val="0D1B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40080"/>
            <a:ext cx="941832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" y="640080"/>
            <a:ext cx="941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0058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-15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CPEC-U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plateforme unique pour</a:t>
            </a:r>
            <a:endParaRPr lang="en-US" sz="15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unifier l'académique, le</a:t>
            </a:r>
            <a:endParaRPr lang="en-US" sz="15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pédagogique et l'administratif.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3200400" cy="228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0156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Pensé pour les grandes structures comme l'INP-HB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avec plusieurs écoles, filières et populations distinctes.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0" y="822960"/>
            <a:ext cx="2834640" cy="233172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97880" y="1097280"/>
            <a:ext cx="384048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C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Multi-école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97880" y="21214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plateforme, N établissements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0" y="822960"/>
            <a:ext cx="2834640" cy="233172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06840" y="1097280"/>
            <a:ext cx="384048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C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06840" y="1691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Temps réel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06840" y="21214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Synchronisation instantanée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3429000"/>
            <a:ext cx="2834640" cy="233172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97880" y="3703320"/>
            <a:ext cx="384048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C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97880" y="4297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Multi-rôle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97880" y="47274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Directeur · Enseignant · Élève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78240" y="3429000"/>
            <a:ext cx="2834640" cy="233172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06840" y="3703320"/>
            <a:ext cx="384048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C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06840" y="4297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Full-stack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06840" y="47274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· Express ·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5581" cy="502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37960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CPEC-U · M15 EduTech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4445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/ 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1252728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" y="502920"/>
            <a:ext cx="1252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 technique &amp; déploiement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2926080" cy="228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74520"/>
            <a:ext cx="3474720" cy="457200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74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0C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4688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18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41148" cy="749808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832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3832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41148" cy="749808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976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2976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Tailwind CSS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41148" cy="749808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2120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52120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shadcn/ui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41148" cy="749808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1874520"/>
            <a:ext cx="3474720" cy="457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1874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0C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434840" y="24688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24688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434840" y="2468880"/>
            <a:ext cx="41148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33832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33832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434840" y="3383280"/>
            <a:ext cx="41148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42976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9160" y="42976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Drizzle ORM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434840" y="4297680"/>
            <a:ext cx="41148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34840" y="52120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52120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434840" y="5212080"/>
            <a:ext cx="41148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1874520"/>
            <a:ext cx="3474720" cy="457200"/>
          </a:xfrm>
          <a:prstGeom prst="rect">
            <a:avLst/>
          </a:prstGeom>
          <a:solidFill>
            <a:srgbClr val="2EC2A0"/>
          </a:solidFill>
          <a:ln w="12700">
            <a:solidFill>
              <a:srgbClr val="2EC2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1874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0C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8321040" y="24688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595360" y="24688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21040" y="2468880"/>
            <a:ext cx="41148" cy="749808"/>
          </a:xfrm>
          <a:prstGeom prst="rect">
            <a:avLst/>
          </a:prstGeom>
          <a:solidFill>
            <a:srgbClr val="2EC2A0"/>
          </a:solidFill>
          <a:ln w="12700">
            <a:solidFill>
              <a:srgbClr val="2EC2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33832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595360" y="33832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Railway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321040" y="3383280"/>
            <a:ext cx="41148" cy="749808"/>
          </a:xfrm>
          <a:prstGeom prst="rect">
            <a:avLst/>
          </a:prstGeom>
          <a:solidFill>
            <a:srgbClr val="2EC2A0"/>
          </a:solidFill>
          <a:ln w="12700">
            <a:solidFill>
              <a:srgbClr val="2EC2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42976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595360" y="42976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Vercel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321040" y="4297680"/>
            <a:ext cx="41148" cy="749808"/>
          </a:xfrm>
          <a:prstGeom prst="rect">
            <a:avLst/>
          </a:prstGeom>
          <a:solidFill>
            <a:srgbClr val="2EC2A0"/>
          </a:solidFill>
          <a:ln w="12700">
            <a:solidFill>
              <a:srgbClr val="2EC2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1040" y="5212080"/>
            <a:ext cx="347472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595360" y="521208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Resend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8321040" y="5212080"/>
            <a:ext cx="41148" cy="749808"/>
          </a:xfrm>
          <a:prstGeom prst="rect">
            <a:avLst/>
          </a:prstGeom>
          <a:solidFill>
            <a:srgbClr val="2EC2A0"/>
          </a:solidFill>
          <a:ln w="12700">
            <a:solidFill>
              <a:srgbClr val="2EC2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8640" y="6126480"/>
            <a:ext cx="11091672" cy="384048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6126480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 multi-tenant  ·  Isolation complète des données par école  ·  Sessions sécurisées  ·  API REST documentée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6686" cy="502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37960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CPEC-U · M15 EduTech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4445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 / 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1485900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" y="502920"/>
            <a:ext cx="14859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FONCTIONNALITÉS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Gestion académique complète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3474720" cy="228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74520"/>
            <a:ext cx="3566160" cy="425196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874520"/>
            <a:ext cx="3566160" cy="475488"/>
          </a:xfrm>
          <a:prstGeom prst="rect">
            <a:avLst/>
          </a:prstGeom>
          <a:solidFill>
            <a:srgbClr val="111F38"/>
          </a:solidFill>
          <a:ln w="9525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8745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Classes &amp; Filières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" y="2606040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Création et organisation des classes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" y="3355848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3101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Gestion des filières et niveaux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105656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05993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Affectation des enseignants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4855464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8097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Emplois du temps intégrés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62272" y="1874520"/>
            <a:ext cx="3566160" cy="425196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62272" y="1874520"/>
            <a:ext cx="3566160" cy="475488"/>
          </a:xfrm>
          <a:prstGeom prst="rect">
            <a:avLst/>
          </a:prstGeom>
          <a:solidFill>
            <a:srgbClr val="111F38"/>
          </a:solidFill>
          <a:ln w="9525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8745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Notes &amp; Bulletins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63440" y="2606040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Saisie des notes par matière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355848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3101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Calcul automatique des moyennes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4105656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405993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Génération de bulletins PDF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4855464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48097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Classements et statistiques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75904" y="1874520"/>
            <a:ext cx="3566160" cy="425196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75904" y="1874520"/>
            <a:ext cx="3566160" cy="475488"/>
          </a:xfrm>
          <a:prstGeom prst="rect">
            <a:avLst/>
          </a:prstGeom>
          <a:solidFill>
            <a:srgbClr val="111F38"/>
          </a:solidFill>
          <a:ln w="9525">
            <a:solidFill>
              <a:srgbClr val="E8A8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77072" y="18745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Emplois du temps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577072" y="2606040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23376" y="2560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Planning hebdomadaire visuel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577072" y="3355848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23376" y="33101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Gestion des salles et horaires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577072" y="4105656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23376" y="405993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Affichage par classe ou enseignant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577072" y="4855464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23376" y="48097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 PDF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0D1B32"/>
          </a:solidFill>
          <a:ln w="12700">
            <a:solidFill>
              <a:srgbClr val="0D1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703924" cy="502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537960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CPEC-U · M15 EduTech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4445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 /  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502920"/>
            <a:ext cx="1330452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" y="502920"/>
            <a:ext cx="13304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 ÉTUDIANTE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822960"/>
            <a:ext cx="6400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Suivi complet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l'étudiant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3200400" cy="228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774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étudiant dispose d'un profil centralisé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couvrant sa scolarité de l'inscription à la diplomation.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320040" cy="566928"/>
          </a:xfrm>
          <a:prstGeom prst="rect">
            <a:avLst/>
          </a:prstGeom>
          <a:solidFill>
            <a:srgbClr val="E8A838"/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5468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C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1729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Gestion des absences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34290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Pointage, justificatifs, seuils d'alerte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320040" cy="566928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04488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92277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Paiements de frais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417880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Suivi des tranches, relances automatisées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320040" cy="566928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54296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67258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Dossier étudiant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492861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Documents, historique, parcours complet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04104"/>
            <a:ext cx="320040" cy="566928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404104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54223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Messagerie interne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5840" y="567842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Communication directe enseignant–élève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548640"/>
            <a:ext cx="4526280" cy="169164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60920" y="548640"/>
            <a:ext cx="45720" cy="1691640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82296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Profil étudiant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543800" y="1207008"/>
            <a:ext cx="4160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Dossier académique unifié, accessible en temps réel par les équipes pédagogiques.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60920" y="2514600"/>
            <a:ext cx="4526280" cy="169164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60920" y="2514600"/>
            <a:ext cx="45720" cy="1691640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27889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Bibliothèque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543800" y="3172968"/>
            <a:ext cx="4160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Catalogue de ressources numériques accessible à tous les étudiants de l'établissement.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60920" y="4480560"/>
            <a:ext cx="4526280" cy="169164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60920" y="4480560"/>
            <a:ext cx="45720" cy="1691640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475488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Recommandations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543800" y="5138928"/>
            <a:ext cx="4160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Algorithme de recommandations pédagogiques basé sur les performances individuelles.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37960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CPEC-U · M15 EduTech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4445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 / 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640080"/>
            <a:ext cx="1019556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" y="640080"/>
            <a:ext cx="10195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tableau de bord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 les décideurs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743200" cy="228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directeur dispose d'une vision globale consolidée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temps réel — sans extraction manuelle.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36499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Gestion des établissements et des licences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59352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89534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Suivi des performances académiques globales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89704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425696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Rapport de taux d'assiduité en temps réel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20056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95604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Supervision des enseignants et des classes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50408"/>
            <a:ext cx="54864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548640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Administration des accès et des rôles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731520"/>
            <a:ext cx="2834640" cy="233172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11430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1 247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217920" y="20299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Étudiants actifs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17920" y="24505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+12 ce mois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81160" y="731520"/>
            <a:ext cx="2834640" cy="233172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81160" y="11430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91 %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9281160" y="20299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Taux de présence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281160" y="24505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Cible : 90 %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2834640" cy="233172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3886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3 812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6217920" y="47731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Bulletins générés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17920" y="51937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Semestre 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281160" y="3474720"/>
            <a:ext cx="2834640" cy="2331720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281160" y="3886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87 %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9281160" y="47731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Paiements à jour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281160" y="51937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Taux de recouvrement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5028" cy="502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537960"/>
            <a:ext cx="12188952" cy="228600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CPEC-U · M15 EduTech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4445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 / 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2263140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2356" y="502920"/>
            <a:ext cx="22631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SÉCURITÉ &amp; INFRASTRUCTURE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7772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Données isolées,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infrastructure robuste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3657600" cy="228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23160"/>
            <a:ext cx="3566160" cy="804672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23160"/>
            <a:ext cx="41148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597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Isolation multi-tenant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273405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école voit uniquement ses propres données. L'accès inter-tenant est architecturalement impossible.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566160" cy="804672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83280"/>
            <a:ext cx="41148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198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Sessions sécurisées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369417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express-session avec invalidation immédiate à la modification des credentials. Cookies HttpOnly.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3566160" cy="804672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43400"/>
            <a:ext cx="41148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3799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Contrôle d'accès par rôle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" y="46542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Superadmin · Directeur · Enseignant · Étudiant — chaque rôle voit exactement ce qui le concerne.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3566160" cy="804672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303520"/>
            <a:ext cx="41148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3400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Licences &amp; expiration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" y="561441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établissement a une licence à durée définie. Accès coupé automatiquement à expiration.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Déploiement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685800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880360"/>
            <a:ext cx="41148" cy="749808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9169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Railway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937760" y="32278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· Backend · Base de données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813048"/>
            <a:ext cx="685800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813048"/>
            <a:ext cx="41148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8496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Vercel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93776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· CDN mondial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4745736"/>
            <a:ext cx="685800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4745736"/>
            <a:ext cx="41148" cy="749808"/>
          </a:xfrm>
          <a:prstGeom prst="rect">
            <a:avLst/>
          </a:prstGeom>
          <a:solidFill>
            <a:srgbClr val="2EC2A0"/>
          </a:solidFill>
          <a:ln w="12700">
            <a:solidFill>
              <a:srgbClr val="2EC2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937760" y="50932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Données relationnelles + migrations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5678424"/>
            <a:ext cx="6858000" cy="749808"/>
          </a:xfrm>
          <a:prstGeom prst="rect">
            <a:avLst/>
          </a:prstGeom>
          <a:solidFill>
            <a:srgbClr val="111F38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5678424"/>
            <a:ext cx="41148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5715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Resend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937760" y="60258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Emails transactionnels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D1B32"/>
          </a:solidFill>
          <a:ln w="12700">
            <a:solidFill>
              <a:srgbClr val="0D1B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606918" cy="502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537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4445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 /  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502920"/>
            <a:ext cx="1330452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" y="502920"/>
            <a:ext cx="13304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C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DÉMONSTRATION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spc="-8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Essayez CPEC-U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spc="-8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direct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502920" y="2359152"/>
            <a:ext cx="3200400" cy="228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146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Plateforme hébergée et accessible depuis n'importe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quel appareil connecté. Aucune installation requise.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429000"/>
            <a:ext cx="4892040" cy="777240"/>
          </a:xfrm>
          <a:prstGeom prst="rect">
            <a:avLst/>
          </a:prstGeom>
          <a:solidFill>
            <a:srgbClr val="1E2D45"/>
          </a:solidFill>
          <a:ln w="7620">
            <a:solidFill>
              <a:srgbClr val="3A7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021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URL de production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m15-edutech.ci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361688"/>
            <a:ext cx="4892040" cy="777240"/>
          </a:xfrm>
          <a:prstGeom prst="rect">
            <a:avLst/>
          </a:prstGeom>
          <a:solidFill>
            <a:srgbClr val="1E2D45"/>
          </a:solidFill>
          <a:ln w="762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34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Compte démo directeur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7274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youss@gmail.com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5294376"/>
            <a:ext cx="4892040" cy="777240"/>
          </a:xfrm>
          <a:prstGeom prst="rect">
            <a:avLst/>
          </a:prstGeom>
          <a:solidFill>
            <a:srgbClr val="1E2D45"/>
          </a:solidFill>
          <a:ln w="7620">
            <a:solidFill>
              <a:srgbClr val="2EC2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67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Accès développeur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566013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/dev — token sécurisé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35040" y="137160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 responsive,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accessible sur ordinateur,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tablette et mobile.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35040" y="2834640"/>
            <a:ext cx="5669280" cy="960120"/>
          </a:xfrm>
          <a:prstGeom prst="rect">
            <a:avLst/>
          </a:prstGeom>
          <a:solidFill>
            <a:srgbClr val="1E2D45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834640"/>
            <a:ext cx="5669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m15-edutech.ci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035040" y="3931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Déployé sur Vercel  ·  API sur Railway  ·  Base en production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772400" y="-457200"/>
            <a:ext cx="5029200" cy="7772400"/>
          </a:xfrm>
          <a:prstGeom prst="rect">
            <a:avLst/>
          </a:prstGeom>
          <a:solidFill>
            <a:srgbClr val="0D1B32"/>
          </a:solidFill>
          <a:ln w="12700">
            <a:solidFill>
              <a:srgbClr val="0D1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0"/>
            <a:ext cx="2743200" cy="685800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3A7EFF"/>
          </a:solidFill>
          <a:ln w="12700">
            <a:solidFill>
              <a:srgbClr val="3A7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229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spc="-20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CPEC-U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640080" y="2084832"/>
            <a:ext cx="45720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67712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plateforme académique de l'INP-HB,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construite pour aujourd'hui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 extensible pour demain.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73152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30752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Centralisation de la gestion académique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73152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2452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Autonomie pour chaque établissement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782312"/>
            <a:ext cx="73152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71830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Transparence pour les étudiants et les familles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276088"/>
            <a:ext cx="73152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1208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A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Décisions fondées sur des données fiables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870448"/>
            <a:ext cx="6400800" cy="640080"/>
          </a:xfrm>
          <a:prstGeom prst="rect">
            <a:avLst/>
          </a:prstGeom>
          <a:solidFill>
            <a:srgbClr val="1E2D45"/>
          </a:solidFill>
          <a:ln w="6350">
            <a:solidFill>
              <a:srgbClr val="1E3A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87044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M15 EduTech  ·  contact@m15-edutech.ci  ·  m15-edutech.ci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M15 EduTech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CPEC-U · M15 EduTech</dc:title>
  <dc:subject>CPEC-U — Plateforme de Gestion Académique</dc:subject>
  <dc:creator>M15 EduTech</dc:creator>
  <cp:lastModifiedBy>M15 EduTech</cp:lastModifiedBy>
  <cp:revision>1</cp:revision>
  <dcterms:created xsi:type="dcterms:W3CDTF">2026-05-01T02:15:19Z</dcterms:created>
  <dcterms:modified xsi:type="dcterms:W3CDTF">2026-05-01T02:15:19Z</dcterms:modified>
</cp:coreProperties>
</file>